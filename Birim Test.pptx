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1258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0"/>
            <a:ext cx="9144677" cy="6858000"/>
            <a:chOff x="0" y="0"/>
            <a:chExt cx="9144677" cy="6858000"/>
          </a:xfrm>
        </p:grpSpPr>
        <p:pic>
          <p:nvPicPr>
            <p:cNvPr id="8" name="Picture 7" descr="SD-PanelTitle-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0" y="3128434"/>
              <a:ext cx="1664208" cy="612648"/>
            </a:xfrm>
            <a:prstGeom prst="rect">
              <a:avLst/>
            </a:prstGeom>
          </p:spPr>
        </p:pic>
        <p:pic>
          <p:nvPicPr>
            <p:cNvPr id="13" name="Picture 12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7480469" y="3128434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21934" y="1811863"/>
            <a:ext cx="5308866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1934" y="3598327"/>
            <a:ext cx="5308866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/>
              <a:t>Asıl alt başlık stilini düzenlemek için tıklayın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65417" y="5054602"/>
            <a:ext cx="673276" cy="2794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21934" y="5054602"/>
            <a:ext cx="4064860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17317" y="5054602"/>
            <a:ext cx="413483" cy="2794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019825" y="3471329"/>
            <a:ext cx="511308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001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501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8465" y="1641413"/>
            <a:ext cx="6595534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78465" y="3734859"/>
            <a:ext cx="6595534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278466" y="3599392"/>
            <a:ext cx="659553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457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76866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152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909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868" y="3243263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1832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1832" y="3243263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41" name="Straight Connector 40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2477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15337"/>
            <a:ext cx="6798735" cy="1303867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7431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368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388534"/>
            <a:ext cx="2536798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0062" y="982132"/>
            <a:ext cx="3855539" cy="4893735"/>
          </a:xfrm>
        </p:spPr>
        <p:txBody>
          <a:bodyPr anchor="ctr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031065"/>
            <a:ext cx="2536798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278466" y="2912533"/>
            <a:ext cx="233359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2808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883832"/>
            <a:ext cx="3632202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069" y="1032933"/>
            <a:ext cx="2929463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255432"/>
            <a:ext cx="3632201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408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Yazılı Panoramik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4815415"/>
            <a:ext cx="6798734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6260" y="1032933"/>
            <a:ext cx="7091482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6" y="5382153"/>
            <a:ext cx="6798734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2873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şlık ve Resim Yazıs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06873"/>
            <a:ext cx="6798734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275666"/>
            <a:ext cx="6798736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5" y="4140199"/>
            <a:ext cx="660642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09388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im Yazılı Alın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4333" y="982132"/>
            <a:ext cx="6400250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00200" y="3352799"/>
            <a:ext cx="5892798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3" y="4343400"/>
            <a:ext cx="6798738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49969" y="905362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3503" y="2827870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278466" y="4140199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19345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İsim Kar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9" y="3308581"/>
            <a:ext cx="679872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4777381"/>
            <a:ext cx="679873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9170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ıntı İsim Kart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416" y="982132"/>
            <a:ext cx="632516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8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639312"/>
            <a:ext cx="6798730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529667"/>
            <a:ext cx="6798736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78060" y="89689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9796" y="260772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278466" y="342900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5937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ğru veya Yanlı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82131"/>
            <a:ext cx="6798734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566160"/>
            <a:ext cx="6798730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6" y="4470400"/>
            <a:ext cx="6798734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9" y="3429000"/>
            <a:ext cx="660642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32454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5" y="2490135"/>
            <a:ext cx="6798736" cy="3385733"/>
          </a:xfrm>
        </p:spPr>
        <p:txBody>
          <a:bodyPr vert="eaVert" anchor="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60642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4816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56667" y="906873"/>
            <a:ext cx="1618930" cy="4968995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7" y="906873"/>
            <a:ext cx="4915509" cy="4968993"/>
          </a:xfrm>
        </p:spPr>
        <p:txBody>
          <a:bodyPr vert="eaVert" anchor="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6245512" y="906873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5490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52467" cy="6858000"/>
            <a:chOff x="0" y="0"/>
            <a:chExt cx="9152467" cy="6858000"/>
          </a:xfrm>
        </p:grpSpPr>
        <p:pic>
          <p:nvPicPr>
            <p:cNvPr id="8" name="Picture 7" descr="S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0" y="3128434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8466667" y="3128434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2490135"/>
            <a:ext cx="6798736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56670" y="5960533"/>
            <a:ext cx="114828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76865" y="5960533"/>
            <a:ext cx="510466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80091" y="5960533"/>
            <a:ext cx="39551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916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  <p:sldLayoutId id="2147483716" r:id="rId14"/>
    <p:sldLayoutId id="2147483717" r:id="rId15"/>
    <p:sldLayoutId id="2147483718" r:id="rId16"/>
    <p:sldLayoutId id="214748371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Birim</a:t>
            </a:r>
            <a:r>
              <a:rPr dirty="0"/>
              <a:t>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Birim testi, yazılımın en küçük parçalarının doğrulanmasını sağlar.</a:t>
            </a:r>
          </a:p>
          <a:p>
            <a:r>
              <a:t>Fonksiyon, metod veya sınıf seviyesinde yapılır.</a:t>
            </a:r>
          </a:p>
          <a:p>
            <a:r>
              <a:t>Hataları erken aşamada yakalamaya yardımcı olur.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Birim Testlerinin Amaçları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Kodun</a:t>
            </a:r>
            <a:r>
              <a:rPr dirty="0"/>
              <a:t> </a:t>
            </a:r>
            <a:r>
              <a:rPr dirty="0" err="1"/>
              <a:t>doğru</a:t>
            </a:r>
            <a:r>
              <a:rPr dirty="0"/>
              <a:t> </a:t>
            </a:r>
            <a:r>
              <a:rPr dirty="0" err="1"/>
              <a:t>çalıştığını</a:t>
            </a:r>
            <a:r>
              <a:rPr dirty="0"/>
              <a:t> </a:t>
            </a:r>
            <a:r>
              <a:rPr dirty="0" err="1"/>
              <a:t>doğrulamak</a:t>
            </a:r>
            <a:endParaRPr dirty="0"/>
          </a:p>
          <a:p>
            <a:r>
              <a:rPr dirty="0"/>
              <a:t>Refactor </a:t>
            </a:r>
            <a:r>
              <a:rPr dirty="0" err="1"/>
              <a:t>işlemlerini</a:t>
            </a:r>
            <a:r>
              <a:rPr dirty="0"/>
              <a:t> </a:t>
            </a:r>
            <a:r>
              <a:rPr dirty="0" err="1"/>
              <a:t>güvenli</a:t>
            </a:r>
            <a:r>
              <a:rPr dirty="0"/>
              <a:t> hale </a:t>
            </a:r>
            <a:r>
              <a:rPr dirty="0" err="1"/>
              <a:t>getirmek</a:t>
            </a:r>
            <a:endParaRPr dirty="0"/>
          </a:p>
          <a:p>
            <a:r>
              <a:rPr dirty="0" err="1"/>
              <a:t>Bakımı</a:t>
            </a:r>
            <a:r>
              <a:rPr dirty="0"/>
              <a:t> </a:t>
            </a:r>
            <a:r>
              <a:rPr dirty="0" err="1"/>
              <a:t>kolaylaştırmak</a:t>
            </a:r>
            <a:endParaRPr dirty="0"/>
          </a:p>
          <a:p>
            <a:r>
              <a:rPr dirty="0"/>
              <a:t>Hata </a:t>
            </a:r>
            <a:r>
              <a:rPr dirty="0" err="1"/>
              <a:t>maliyetini</a:t>
            </a:r>
            <a:r>
              <a:rPr dirty="0"/>
              <a:t> </a:t>
            </a:r>
            <a:r>
              <a:rPr dirty="0" err="1"/>
              <a:t>azaltmak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Birim Testlerinin Avantajları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Yazılım kalitesini artırır</a:t>
            </a:r>
          </a:p>
          <a:p>
            <a:r>
              <a:t>Debug süresini azaltır</a:t>
            </a:r>
          </a:p>
          <a:p>
            <a:r>
              <a:t>Dokümantasyon görevi görür</a:t>
            </a:r>
          </a:p>
          <a:p>
            <a:r>
              <a:t>CI/CD süreçlerine kolay entegre edilir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Birim Test Süreci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Test senaryoları hazırlanır</a:t>
            </a:r>
          </a:p>
          <a:p>
            <a:r>
              <a:t>Beklenen çıktı belirlenir</a:t>
            </a:r>
          </a:p>
          <a:p>
            <a:r>
              <a:t>Test çalıştırılır</a:t>
            </a:r>
          </a:p>
          <a:p>
            <a:r>
              <a:t>Sonuçlar değerlendirilir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Popüler Birim Test Frameworkleri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Java: JUnit</a:t>
            </a:r>
          </a:p>
          <a:p>
            <a:r>
              <a:t>Python: PyTest, unittest</a:t>
            </a:r>
          </a:p>
          <a:p>
            <a:r>
              <a:t>JavaScript: Jest</a:t>
            </a:r>
          </a:p>
          <a:p>
            <a:r>
              <a:t>C#: NUnit, xUnit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Örnek Birim Testi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Bir </a:t>
            </a:r>
            <a:r>
              <a:rPr dirty="0" err="1"/>
              <a:t>toplama</a:t>
            </a:r>
            <a:r>
              <a:rPr dirty="0"/>
              <a:t> </a:t>
            </a:r>
            <a:r>
              <a:rPr dirty="0" err="1"/>
              <a:t>fonksiyonu</a:t>
            </a:r>
            <a:r>
              <a:rPr dirty="0"/>
              <a:t> </a:t>
            </a:r>
            <a:r>
              <a:rPr dirty="0" err="1"/>
              <a:t>için</a:t>
            </a:r>
            <a:r>
              <a:rPr dirty="0"/>
              <a:t> test </a:t>
            </a:r>
            <a:r>
              <a:rPr dirty="0" err="1"/>
              <a:t>örneği</a:t>
            </a:r>
            <a:endParaRPr dirty="0"/>
          </a:p>
          <a:p>
            <a:r>
              <a:rPr dirty="0" err="1"/>
              <a:t>Girdi</a:t>
            </a:r>
            <a:r>
              <a:rPr dirty="0"/>
              <a:t>: 2 + 3</a:t>
            </a:r>
          </a:p>
          <a:p>
            <a:r>
              <a:rPr dirty="0" err="1"/>
              <a:t>Beklenen</a:t>
            </a:r>
            <a:r>
              <a:rPr dirty="0"/>
              <a:t> </a:t>
            </a:r>
            <a:r>
              <a:rPr dirty="0" err="1"/>
              <a:t>çıktı</a:t>
            </a:r>
            <a:r>
              <a:rPr dirty="0"/>
              <a:t>: 5</a:t>
            </a:r>
          </a:p>
          <a:p>
            <a:r>
              <a:rPr dirty="0" err="1"/>
              <a:t>Başarılı</a:t>
            </a:r>
            <a:r>
              <a:rPr dirty="0"/>
              <a:t> </a:t>
            </a:r>
            <a:r>
              <a:rPr dirty="0" err="1"/>
              <a:t>sonuç</a:t>
            </a:r>
            <a:r>
              <a:rPr dirty="0"/>
              <a:t> </a:t>
            </a:r>
            <a:r>
              <a:rPr dirty="0" err="1"/>
              <a:t>testin</a:t>
            </a:r>
            <a:r>
              <a:rPr dirty="0"/>
              <a:t> </a:t>
            </a:r>
            <a:r>
              <a:rPr dirty="0" err="1"/>
              <a:t>geçtiğini</a:t>
            </a:r>
            <a:r>
              <a:rPr dirty="0"/>
              <a:t> </a:t>
            </a:r>
            <a:r>
              <a:rPr dirty="0" err="1"/>
              <a:t>gösterir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Birim</a:t>
            </a:r>
            <a:r>
              <a:rPr dirty="0"/>
              <a:t> </a:t>
            </a:r>
            <a:r>
              <a:rPr dirty="0" err="1"/>
              <a:t>Testlerinde</a:t>
            </a:r>
            <a:r>
              <a:rPr dirty="0"/>
              <a:t> </a:t>
            </a:r>
            <a:r>
              <a:rPr dirty="0" err="1"/>
              <a:t>Dikkat</a:t>
            </a:r>
            <a:r>
              <a:rPr dirty="0"/>
              <a:t> </a:t>
            </a:r>
            <a:r>
              <a:rPr dirty="0" err="1"/>
              <a:t>Edilecekler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Testler</a:t>
            </a:r>
            <a:r>
              <a:rPr dirty="0"/>
              <a:t> </a:t>
            </a:r>
            <a:r>
              <a:rPr dirty="0" err="1"/>
              <a:t>bağımsız</a:t>
            </a:r>
            <a:r>
              <a:rPr dirty="0"/>
              <a:t> </a:t>
            </a:r>
            <a:r>
              <a:rPr dirty="0" err="1"/>
              <a:t>olmalıdır</a:t>
            </a:r>
            <a:endParaRPr dirty="0"/>
          </a:p>
          <a:p>
            <a:r>
              <a:rPr dirty="0"/>
              <a:t>Tek </a:t>
            </a:r>
            <a:r>
              <a:rPr dirty="0" err="1"/>
              <a:t>bir</a:t>
            </a:r>
            <a:r>
              <a:rPr dirty="0"/>
              <a:t> </a:t>
            </a:r>
            <a:r>
              <a:rPr dirty="0" err="1"/>
              <a:t>davranış</a:t>
            </a:r>
            <a:r>
              <a:rPr dirty="0"/>
              <a:t> test </a:t>
            </a:r>
            <a:r>
              <a:rPr dirty="0" err="1"/>
              <a:t>edilmelidir</a:t>
            </a:r>
            <a:endParaRPr dirty="0"/>
          </a:p>
          <a:p>
            <a:r>
              <a:rPr dirty="0" err="1"/>
              <a:t>Anlaşılır</a:t>
            </a:r>
            <a:r>
              <a:rPr dirty="0"/>
              <a:t> </a:t>
            </a:r>
            <a:r>
              <a:rPr dirty="0" err="1"/>
              <a:t>isimlendirme</a:t>
            </a:r>
            <a:r>
              <a:rPr dirty="0"/>
              <a:t> </a:t>
            </a:r>
            <a:r>
              <a:rPr dirty="0" err="1"/>
              <a:t>kullanılmalıdı</a:t>
            </a:r>
            <a:r>
              <a:rPr lang="tr-TR" dirty="0"/>
              <a:t>r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Birim testleri güvenilir yazılım geliştirme için kritik öneme sahiptir.</a:t>
            </a:r>
          </a:p>
          <a:p>
            <a:r>
              <a:t>Erken hata tespiti sağlar.</a:t>
            </a:r>
          </a:p>
          <a:p>
            <a:r>
              <a:t>Uzun vadede geliştirme maliyetini düşürür.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k">
  <a:themeElements>
    <a:clrScheme name="Organik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k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k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2</TotalTime>
  <Words>157</Words>
  <Application>Microsoft Office PowerPoint</Application>
  <PresentationFormat>Ekran Gösterisi (4:3)</PresentationFormat>
  <Paragraphs>37</Paragraphs>
  <Slides>8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8</vt:i4>
      </vt:variant>
    </vt:vector>
  </HeadingPairs>
  <TitlesOfParts>
    <vt:vector size="11" baseType="lpstr">
      <vt:lpstr>Arial</vt:lpstr>
      <vt:lpstr>Garamond</vt:lpstr>
      <vt:lpstr>Organik</vt:lpstr>
      <vt:lpstr>Birim Test</vt:lpstr>
      <vt:lpstr>Birim Testlerinin Amaçları</vt:lpstr>
      <vt:lpstr>Birim Testlerinin Avantajları</vt:lpstr>
      <vt:lpstr>Birim Test Süreci</vt:lpstr>
      <vt:lpstr>Popüler Birim Test Frameworkleri</vt:lpstr>
      <vt:lpstr>Örnek Birim Testi</vt:lpstr>
      <vt:lpstr>Birim Testlerinde Dikkat Edilecekler</vt:lpstr>
      <vt:lpstr>Sonuç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Ahmet Yusuf Birdir</cp:lastModifiedBy>
  <cp:revision>2</cp:revision>
  <dcterms:created xsi:type="dcterms:W3CDTF">2013-01-27T09:14:16Z</dcterms:created>
  <dcterms:modified xsi:type="dcterms:W3CDTF">2026-05-14T10:26:08Z</dcterms:modified>
  <cp:category/>
</cp:coreProperties>
</file>